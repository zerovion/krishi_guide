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03504"/>
            <a:ext cx="8138160" cy="0"/>
          </a:xfrm>
          <a:prstGeom prst="line">
            <a:avLst/>
          </a:prstGeom>
          <a:noFill/>
          <a:ln w="12700">
            <a:solidFill>
              <a:srgbClr val="DCE5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5971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SOCIOTHON '26  /  KRISHIGUIDE AI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035040" y="2377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60" kern="0" dirty="0">
                <a:solidFill>
                  <a:srgbClr val="8290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INNOVATION HACKATHON  •  DRAFT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19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KRISHIGUIDE AI  •  PROPOSAL DRAFT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649224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19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649224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19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soilhealth.dac.gov.in" TargetMode="External"/><Relationship Id="rId2" Type="http://schemas.openxmlformats.org/officeDocument/2006/relationships/hyperlink" Target="https://mausam.imd.gov.in/responsive/agromet_adv_ser_district_current_lo.php" TargetMode="External"/><Relationship Id="rId3" Type="http://schemas.openxmlformats.org/officeDocument/2006/relationships/hyperlink" Target="https://icar.gov.in/en/kharif-agro-advisory-farmers" TargetMode="External"/><Relationship Id="rId4" Type="http://schemas.openxmlformats.org/officeDocument/2006/relationships/hyperlink" Target="https://www.enam.gov.in/web/dashboard/agmarknet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63D2E"/>
          </a:solidFill>
          <a:ln w="10160">
            <a:solidFill>
              <a:srgbClr val="163D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3657600"/>
          </a:xfrm>
          <a:prstGeom prst="ellipse">
            <a:avLst/>
          </a:prstGeom>
          <a:solidFill>
            <a:srgbClr val="214F39">
              <a:alpha val="96000"/>
            </a:srgbClr>
          </a:solidFill>
          <a:ln w="12700">
            <a:solidFill>
              <a:srgbClr val="214F3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931920"/>
            <a:ext cx="2560320" cy="2560320"/>
          </a:xfrm>
          <a:prstGeom prst="ellipse">
            <a:avLst/>
          </a:prstGeom>
          <a:solidFill>
            <a:srgbClr val="1D4733"/>
          </a:solidFill>
          <a:ln w="12700">
            <a:solidFill>
              <a:srgbClr val="1D4733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4937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90" kern="0" dirty="0">
                <a:solidFill>
                  <a:srgbClr val="DDE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 PRESENTS  •  SOCIOTHON '26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859536"/>
            <a:ext cx="3163824" cy="0"/>
          </a:xfrm>
          <a:prstGeom prst="line">
            <a:avLst/>
          </a:prstGeom>
          <a:noFill/>
          <a:ln w="20320">
            <a:solidFill>
              <a:srgbClr val="709C6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61872"/>
            <a:ext cx="4800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KrishiGuide AI</a:t>
            </a:r>
            <a:endParaRPr lang="en-US" sz="35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213055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5EED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next smart decision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E5EED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starts with your soil.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310128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2E1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explainable crop-planning companion for small farmers — built around season, soil, water and budget.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361688"/>
            <a:ext cx="1664208" cy="265176"/>
          </a:xfrm>
          <a:prstGeom prst="roundRect">
            <a:avLst>
              <a:gd name="adj" fmla="val 41379"/>
            </a:avLst>
          </a:prstGeom>
          <a:solidFill>
            <a:srgbClr val="365F42"/>
          </a:solidFill>
          <a:ln w="10160">
            <a:solidFill>
              <a:srgbClr val="365F4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4375404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DE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2  ZERO HUNGER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2359152" y="4361688"/>
            <a:ext cx="1755648" cy="265176"/>
          </a:xfrm>
          <a:prstGeom prst="roundRect">
            <a:avLst>
              <a:gd name="adj" fmla="val 41379"/>
            </a:avLst>
          </a:prstGeom>
          <a:solidFill>
            <a:srgbClr val="365F42"/>
          </a:solidFill>
          <a:ln w="10160">
            <a:solidFill>
              <a:srgbClr val="365F4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32304" y="437540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DE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8  DECENT WORK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594360" y="4718304"/>
            <a:ext cx="2176272" cy="265176"/>
          </a:xfrm>
          <a:prstGeom prst="roundRect">
            <a:avLst>
              <a:gd name="adj" fmla="val 41379"/>
            </a:avLst>
          </a:prstGeom>
          <a:solidFill>
            <a:srgbClr val="365F42"/>
          </a:solidFill>
          <a:ln w="10160">
            <a:solidFill>
              <a:srgbClr val="365F42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" y="473202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DE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12  RESPONSIBLE USE</a:t>
            </a:r>
            <a:endParaRPr lang="en-US" sz="84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870448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9D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NATIONAL SOCIAL INNOVATION HACKATHON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6190488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9D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KrishiGuide AI  |  Member details to be added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060704"/>
            <a:ext cx="3822192" cy="4453128"/>
          </a:xfrm>
          <a:prstGeom prst="roundRect">
            <a:avLst>
              <a:gd name="adj" fmla="val 2871"/>
            </a:avLst>
          </a:prstGeom>
          <a:solidFill>
            <a:srgbClr val="214D36"/>
          </a:solidFill>
          <a:ln w="10160">
            <a:solidFill>
              <a:srgbClr val="3A68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79757" y="1416954"/>
            <a:ext cx="801563" cy="801563"/>
          </a:xfrm>
          <a:prstGeom prst="ellipse">
            <a:avLst/>
          </a:prstGeom>
          <a:solidFill>
            <a:srgbClr val="E9B85A"/>
          </a:solidFill>
          <a:ln w="12700">
            <a:solidFill>
              <a:srgbClr val="E9B85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6653540" y="2040392"/>
            <a:ext cx="1834652" cy="1068751"/>
          </a:xfrm>
          <a:prstGeom prst="chevron">
            <a:avLst/>
          </a:prstGeom>
          <a:solidFill>
            <a:srgbClr val="4F8750"/>
          </a:solidFill>
          <a:ln w="12700">
            <a:solidFill>
              <a:srgbClr val="4F875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5009998" y="2396642"/>
            <a:ext cx="2293315" cy="979688"/>
          </a:xfrm>
          <a:prstGeom prst="chevron">
            <a:avLst/>
          </a:prstGeom>
          <a:solidFill>
            <a:srgbClr val="67975A"/>
          </a:solidFill>
          <a:ln w="12700">
            <a:solidFill>
              <a:srgbClr val="67975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3540" y="3198205"/>
            <a:ext cx="-1605321" cy="155859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9984" y="3198205"/>
            <a:ext cx="1605321" cy="155859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57985" y="3487659"/>
            <a:ext cx="-1433322" cy="155859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25539" y="3487659"/>
            <a:ext cx="1433322" cy="155859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2431" y="3777112"/>
            <a:ext cx="-1261323" cy="155859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21094" y="3777112"/>
            <a:ext cx="1261323" cy="155859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66876" y="4066565"/>
            <a:ext cx="-1089325" cy="155859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16648" y="4066565"/>
            <a:ext cx="1089325" cy="155859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1321" y="4356019"/>
            <a:ext cx="-917326" cy="155859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2203" y="4356019"/>
            <a:ext cx="917326" cy="155859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5766" y="4645472"/>
            <a:ext cx="-745327" cy="155859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7758" y="4645472"/>
            <a:ext cx="745327" cy="155859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211" y="4934925"/>
            <a:ext cx="-573329" cy="155859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03313" y="4934925"/>
            <a:ext cx="573329" cy="155859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4657" y="5224379"/>
            <a:ext cx="-401330" cy="155859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98868" y="5224379"/>
            <a:ext cx="401330" cy="155859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06428" y="3465393"/>
            <a:ext cx="1490655" cy="1558595"/>
          </a:xfrm>
          <a:prstGeom prst="roundRect">
            <a:avLst>
              <a:gd name="adj" fmla="val 7361"/>
            </a:avLst>
          </a:prstGeom>
          <a:solidFill>
            <a:srgbClr val="FFFDF6"/>
          </a:solidFill>
          <a:ln w="10160">
            <a:solidFill>
              <a:srgbClr val="E5EAD8"/>
            </a:solidFill>
            <a:prstDash val="solid"/>
          </a:ln>
          <a:effectLst>
            <a:outerShdw sx="100000" sy="100000" kx="0" ky="0" algn="bl" rotWithShape="0" blurRad="38100" dist="50800" dir="2700000">
              <a:srgbClr val="183A28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959316" y="3688050"/>
            <a:ext cx="1184880" cy="20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spc="60" kern="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 SNAPSHOT</a:t>
            </a:r>
            <a:endParaRPr lang="en-US" sz="620" dirty="0"/>
          </a:p>
        </p:txBody>
      </p:sp>
      <p:sp>
        <p:nvSpPr>
          <p:cNvPr id="40" name="Text 38"/>
          <p:cNvSpPr txBox="1"/>
          <p:nvPr/>
        </p:nvSpPr>
        <p:spPr>
          <a:xfrm>
            <a:off x="6959316" y="3910706"/>
            <a:ext cx="1184880" cy="400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crop matches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6959316" y="4445081"/>
            <a:ext cx="1184880" cy="200391"/>
          </a:xfrm>
          <a:prstGeom prst="roundRect">
            <a:avLst>
              <a:gd name="adj" fmla="val 54757"/>
            </a:avLst>
          </a:prstGeom>
          <a:solidFill>
            <a:srgbClr val="E1EAD8"/>
          </a:solidFill>
          <a:ln w="10160">
            <a:solidFill>
              <a:srgbClr val="E1EAD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59316" y="4445081"/>
            <a:ext cx="840882" cy="200391"/>
          </a:xfrm>
          <a:prstGeom prst="roundRect">
            <a:avLst>
              <a:gd name="adj" fmla="val 54757"/>
            </a:avLst>
          </a:prstGeom>
          <a:solidFill>
            <a:srgbClr val="73A15A"/>
          </a:solidFill>
          <a:ln w="10160">
            <a:solidFill>
              <a:srgbClr val="73A15A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59316" y="4712269"/>
            <a:ext cx="1146658" cy="17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budget-aware</a:t>
            </a:r>
            <a:endParaRPr lang="en-US" sz="660" dirty="0"/>
          </a:p>
        </p:txBody>
      </p:sp>
      <p:sp>
        <p:nvSpPr>
          <p:cNvPr id="44" name="Shape 42"/>
          <p:cNvSpPr/>
          <p:nvPr/>
        </p:nvSpPr>
        <p:spPr>
          <a:xfrm>
            <a:off x="5577840" y="685800"/>
            <a:ext cx="2450592" cy="384048"/>
          </a:xfrm>
          <a:prstGeom prst="roundRect">
            <a:avLst>
              <a:gd name="adj" fmla="val 28571"/>
            </a:avLst>
          </a:prstGeom>
          <a:solidFill>
            <a:srgbClr val="F8F7EF"/>
          </a:solidFill>
          <a:ln w="10160">
            <a:solidFill>
              <a:srgbClr val="D9E4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15000" y="795528"/>
            <a:ext cx="146304" cy="146304"/>
          </a:xfrm>
          <a:prstGeom prst="ellipse">
            <a:avLst/>
          </a:prstGeom>
          <a:solidFill>
            <a:srgbClr val="73A15A"/>
          </a:solidFill>
          <a:ln w="12700">
            <a:solidFill>
              <a:srgbClr val="73A15A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34456" y="74980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40" kern="0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 •  COMPARE  •  VERIFY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7772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TEAM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1005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details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5087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 member information before final submission.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956816"/>
            <a:ext cx="8083296" cy="548640"/>
          </a:xfrm>
          <a:prstGeom prst="roundRect">
            <a:avLst>
              <a:gd name="adj" fmla="val 20000"/>
            </a:avLst>
          </a:prstGeom>
          <a:solidFill>
            <a:srgbClr val="163D2E"/>
          </a:solidFill>
          <a:ln w="11430">
            <a:solidFill>
              <a:srgbClr val="163D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756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DDE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NAME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938528" y="2039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KrishiGuide AI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0352" y="2788920"/>
            <a:ext cx="1600200" cy="475488"/>
          </a:xfrm>
          <a:prstGeom prst="rect">
            <a:avLst/>
          </a:prstGeom>
          <a:solidFill>
            <a:srgbClr val="E4ECD9"/>
          </a:solidFill>
          <a:ln w="8890">
            <a:solidFill>
              <a:srgbClr val="CCD9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8346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 name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2130552" y="2788920"/>
            <a:ext cx="1188720" cy="475488"/>
          </a:xfrm>
          <a:prstGeom prst="rect">
            <a:avLst/>
          </a:prstGeom>
          <a:solidFill>
            <a:srgbClr val="E4ECD9"/>
          </a:solidFill>
          <a:ln w="8890">
            <a:solidFill>
              <a:srgbClr val="CCD9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283464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/ year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3319272" y="2788920"/>
            <a:ext cx="2103120" cy="475488"/>
          </a:xfrm>
          <a:prstGeom prst="rect">
            <a:avLst/>
          </a:prstGeom>
          <a:solidFill>
            <a:srgbClr val="E4ECD9"/>
          </a:solidFill>
          <a:ln w="8890">
            <a:solidFill>
              <a:srgbClr val="CCD9C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283464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ID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5422392" y="2788920"/>
            <a:ext cx="1234440" cy="475488"/>
          </a:xfrm>
          <a:prstGeom prst="rect">
            <a:avLst/>
          </a:prstGeom>
          <a:solidFill>
            <a:srgbClr val="E4ECD9"/>
          </a:solidFill>
          <a:ln w="8890">
            <a:solidFill>
              <a:srgbClr val="CCD9C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2834640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no.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6656832" y="2788920"/>
            <a:ext cx="1956816" cy="475488"/>
          </a:xfrm>
          <a:prstGeom prst="rect">
            <a:avLst/>
          </a:prstGeom>
          <a:solidFill>
            <a:srgbClr val="E4ECD9"/>
          </a:solidFill>
          <a:ln w="8890">
            <a:solidFill>
              <a:srgbClr val="CCD9C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 name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530352" y="3264408"/>
            <a:ext cx="160020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" y="33467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30552" y="3264408"/>
            <a:ext cx="11887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03704" y="33467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319272" y="3264408"/>
            <a:ext cx="21031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92424" y="334670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422392" y="3264408"/>
            <a:ext cx="12344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95544" y="3346704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656832" y="3264408"/>
            <a:ext cx="1956816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29984" y="334670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30352" y="3776472"/>
            <a:ext cx="1600200" cy="512064"/>
          </a:xfrm>
          <a:prstGeom prst="rect">
            <a:avLst/>
          </a:prstGeom>
          <a:solidFill>
            <a:srgbClr val="F5F7F0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" y="385876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30552" y="3776472"/>
            <a:ext cx="1188720" cy="512064"/>
          </a:xfrm>
          <a:prstGeom prst="rect">
            <a:avLst/>
          </a:prstGeom>
          <a:solidFill>
            <a:srgbClr val="F5F7F0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03704" y="385876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3319272" y="3776472"/>
            <a:ext cx="2103120" cy="512064"/>
          </a:xfrm>
          <a:prstGeom prst="rect">
            <a:avLst/>
          </a:prstGeom>
          <a:solidFill>
            <a:srgbClr val="F5F7F0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92424" y="38587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422392" y="3776472"/>
            <a:ext cx="1234440" cy="512064"/>
          </a:xfrm>
          <a:prstGeom prst="rect">
            <a:avLst/>
          </a:prstGeom>
          <a:solidFill>
            <a:srgbClr val="F5F7F0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95544" y="3858768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656832" y="3776472"/>
            <a:ext cx="1956816" cy="512064"/>
          </a:xfrm>
          <a:prstGeom prst="rect">
            <a:avLst/>
          </a:prstGeom>
          <a:solidFill>
            <a:srgbClr val="F5F7F0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29984" y="385876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530352" y="4288536"/>
            <a:ext cx="160020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" y="4370832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30552" y="4288536"/>
            <a:ext cx="11887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203704" y="437083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3319272" y="4288536"/>
            <a:ext cx="21031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392424" y="437083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5422392" y="4288536"/>
            <a:ext cx="12344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95544" y="4370832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6656832" y="4288536"/>
            <a:ext cx="1956816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29984" y="43708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530352" y="4800600"/>
            <a:ext cx="1600200" cy="512064"/>
          </a:xfrm>
          <a:prstGeom prst="rect">
            <a:avLst/>
          </a:prstGeom>
          <a:solidFill>
            <a:srgbClr val="F5F7F0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03504" y="4882896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4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130552" y="4800600"/>
            <a:ext cx="1188720" cy="512064"/>
          </a:xfrm>
          <a:prstGeom prst="rect">
            <a:avLst/>
          </a:prstGeom>
          <a:solidFill>
            <a:srgbClr val="F5F7F0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203704" y="488289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3319272" y="4800600"/>
            <a:ext cx="2103120" cy="512064"/>
          </a:xfrm>
          <a:prstGeom prst="rect">
            <a:avLst/>
          </a:prstGeom>
          <a:solidFill>
            <a:srgbClr val="F5F7F0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392424" y="488289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54" name="Shape 52"/>
          <p:cNvSpPr/>
          <p:nvPr/>
        </p:nvSpPr>
        <p:spPr>
          <a:xfrm>
            <a:off x="5422392" y="4800600"/>
            <a:ext cx="1234440" cy="512064"/>
          </a:xfrm>
          <a:prstGeom prst="rect">
            <a:avLst/>
          </a:prstGeom>
          <a:solidFill>
            <a:srgbClr val="F5F7F0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95544" y="4882896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6656832" y="4800600"/>
            <a:ext cx="1956816" cy="512064"/>
          </a:xfrm>
          <a:prstGeom prst="rect">
            <a:avLst/>
          </a:prstGeom>
          <a:solidFill>
            <a:srgbClr val="F5F7F0"/>
          </a:solidFill>
          <a:ln w="8890">
            <a:solidFill>
              <a:srgbClr val="D9E3D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729984" y="48828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9AA5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details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530352" y="5504688"/>
            <a:ext cx="8083296" cy="576072"/>
          </a:xfrm>
          <a:prstGeom prst="roundRect">
            <a:avLst>
              <a:gd name="adj" fmla="val 19048"/>
            </a:avLst>
          </a:prstGeom>
          <a:solidFill>
            <a:srgbClr val="EDF3E5"/>
          </a:solidFill>
          <a:ln w="10160">
            <a:solidFill>
              <a:srgbClr val="DDE7D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1520" y="56235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checklist</a:t>
            </a:r>
            <a:endParaRPr lang="en-US" sz="1020" dirty="0"/>
          </a:p>
        </p:txBody>
      </p:sp>
      <p:sp>
        <p:nvSpPr>
          <p:cNvPr id="60" name="Text 58"/>
          <p:cNvSpPr txBox="1"/>
          <p:nvPr/>
        </p:nvSpPr>
        <p:spPr>
          <a:xfrm>
            <a:off x="2157984" y="5596128"/>
            <a:ext cx="6144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all members • verify emails and mobile numbers • keep one consistent team name across forms.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649224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19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7772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ELIGIBILITY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1005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GLE course certificates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5087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the actual certificate image or PDF crop for each team member.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382219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1430">
            <a:solidFill>
              <a:srgbClr val="D4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17627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DF3E5"/>
          </a:solidFill>
          <a:ln w="10160">
            <a:solidFill>
              <a:srgbClr val="DCE6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24028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1945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5054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GLE certificate here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this placeholder with the real certificate.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1435608" y="3410712"/>
            <a:ext cx="2633472" cy="0"/>
          </a:xfrm>
          <a:prstGeom prst="line">
            <a:avLst/>
          </a:prstGeom>
          <a:noFill/>
          <a:ln w="10160">
            <a:solidFill>
              <a:srgbClr val="DDE5D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709160" y="2011680"/>
            <a:ext cx="382219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1430">
            <a:solidFill>
              <a:srgbClr val="D4DF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2176272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DF3E5"/>
          </a:solidFill>
          <a:ln w="10160">
            <a:solidFill>
              <a:srgbClr val="DCE6D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73752" y="224028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50408" y="21945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550408" y="25054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GLE certificate here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550408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this placeholder with the real certificate.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550408" y="3410712"/>
            <a:ext cx="2633472" cy="0"/>
          </a:xfrm>
          <a:prstGeom prst="line">
            <a:avLst/>
          </a:prstGeom>
          <a:noFill/>
          <a:ln w="10160">
            <a:solidFill>
              <a:srgbClr val="DDE5D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94360" y="4041648"/>
            <a:ext cx="382219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1430">
            <a:solidFill>
              <a:srgbClr val="D4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20624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DF3E5"/>
          </a:solidFill>
          <a:ln w="10160">
            <a:solidFill>
              <a:srgbClr val="DCE6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27024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224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3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435608" y="45354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GLE certificate here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435608" y="49560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this placeholder with the real certificate.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1435608" y="5440680"/>
            <a:ext cx="2633472" cy="0"/>
          </a:xfrm>
          <a:prstGeom prst="line">
            <a:avLst/>
          </a:prstGeom>
          <a:noFill/>
          <a:ln w="10160">
            <a:solidFill>
              <a:srgbClr val="DDE5D8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709160" y="4041648"/>
            <a:ext cx="382219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1430">
            <a:solidFill>
              <a:srgbClr val="D4DF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73752" y="4206240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DF3E5"/>
          </a:solidFill>
          <a:ln w="10160">
            <a:solidFill>
              <a:srgbClr val="DCE6D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73752" y="427024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550408" y="4224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4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550408" y="45354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GLE certificate here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550408" y="49560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this placeholder with the real certificate.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550408" y="5440680"/>
            <a:ext cx="2633472" cy="0"/>
          </a:xfrm>
          <a:prstGeom prst="line">
            <a:avLst/>
          </a:prstGeom>
          <a:noFill/>
          <a:ln w="10160">
            <a:solidFill>
              <a:srgbClr val="DDE5D8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621792" y="6053328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B75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this slide is intentionally a placeholder. Do not submit it with empty certificate slots if the certificates are required.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649224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19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7772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THEME &amp; PROBLEM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1005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Smarter agriculture for small farmers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5087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statement from the Sociothon problem-statement list.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920240"/>
            <a:ext cx="8083296" cy="1124712"/>
          </a:xfrm>
          <a:prstGeom prst="roundRect">
            <a:avLst>
              <a:gd name="adj" fmla="val 9756"/>
            </a:avLst>
          </a:prstGeom>
          <a:solidFill>
            <a:srgbClr val="163D2E"/>
          </a:solidFill>
          <a:ln w="10160">
            <a:solidFill>
              <a:srgbClr val="163D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1214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DDE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395728"/>
            <a:ext cx="7360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AI and data help small farmers make more informed and sustainable decisions about crops, resources and markets?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0352" y="3383280"/>
            <a:ext cx="261518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1430">
            <a:solidFill>
              <a:srgbClr val="DEE6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" y="355701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9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81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84048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 are connected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436168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choice depends on soil, season, water, local conditions, money available and access to reliable information.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3264408" y="3383280"/>
            <a:ext cx="261518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1430">
            <a:solidFill>
              <a:srgbClr val="DEE6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55701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9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WE SERVE</a:t>
            </a:r>
            <a:endParaRPr lang="en-US" sz="81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84048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and resource-limited farms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436168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prototype is designed for an Indian farmer who needs a simple shortlist and practical checks before sowing.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998464" y="3383280"/>
            <a:ext cx="261518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1430">
            <a:solidFill>
              <a:srgbClr val="DEE6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63056" y="355701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9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81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384048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avoidable risk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63056" y="436168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clearer plan can help users compare trade-offs and seek local advice before committing land, time and inputs.</a:t>
            </a:r>
            <a:endParaRPr lang="en-US" sz="97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4132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spc="8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SUSTAINABLE DEVELOPMENT GOALS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2971800" y="5330952"/>
            <a:ext cx="1719072" cy="265176"/>
          </a:xfrm>
          <a:prstGeom prst="roundRect">
            <a:avLst>
              <a:gd name="adj" fmla="val 41379"/>
            </a:avLst>
          </a:prstGeom>
          <a:solidFill>
            <a:srgbClr val="EDF3E5"/>
          </a:solidFill>
          <a:ln w="10160">
            <a:solidFill>
              <a:srgbClr val="EDF3E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44952" y="534466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2  ZERO HUNGER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4828032" y="5330952"/>
            <a:ext cx="1773936" cy="265176"/>
          </a:xfrm>
          <a:prstGeom prst="roundRect">
            <a:avLst>
              <a:gd name="adj" fmla="val 41379"/>
            </a:avLst>
          </a:prstGeom>
          <a:solidFill>
            <a:srgbClr val="EDF3E5"/>
          </a:solidFill>
          <a:ln w="10160">
            <a:solidFill>
              <a:srgbClr val="EDF3E5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01184" y="534466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8  DECENT WORK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729984" y="5330952"/>
            <a:ext cx="1883664" cy="265176"/>
          </a:xfrm>
          <a:prstGeom prst="roundRect">
            <a:avLst>
              <a:gd name="adj" fmla="val 41379"/>
            </a:avLst>
          </a:prstGeom>
          <a:solidFill>
            <a:srgbClr val="EDF3E5"/>
          </a:solidFill>
          <a:ln w="10160">
            <a:solidFill>
              <a:srgbClr val="EDF3E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03136" y="534466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SDG 12  RESPONSIBLE USE</a:t>
            </a:r>
            <a:endParaRPr lang="en-US" sz="840" dirty="0"/>
          </a:p>
        </p:txBody>
      </p:sp>
      <p:sp>
        <p:nvSpPr>
          <p:cNvPr id="27" name="Text 25"/>
          <p:cNvSpPr txBox="1"/>
          <p:nvPr/>
        </p:nvSpPr>
        <p:spPr>
          <a:xfrm>
            <a:off x="585216" y="59253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i="1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pilot focus: Maharashtra; crop recommendations must be validated with district-level agronomic guidance.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649224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19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7772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PROPOSED SOLUTION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1005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simple workflow. More informed farm decisions.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5087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KrishiGuide AI turns a few farm details into an explainable crop shortlist.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12648" y="2020824"/>
            <a:ext cx="402336" cy="402336"/>
          </a:xfrm>
          <a:prstGeom prst="ellipse">
            <a:avLst/>
          </a:prstGeom>
          <a:solidFill>
            <a:srgbClr val="38754B"/>
          </a:solidFill>
          <a:ln w="12700">
            <a:solidFill>
              <a:srgbClr val="38754B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208483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4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98424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farm profile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2267712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District, season, soil, water, acreage, budget and main priority.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813816" y="2423160"/>
            <a:ext cx="0" cy="365760"/>
          </a:xfrm>
          <a:prstGeom prst="line">
            <a:avLst/>
          </a:prstGeom>
          <a:noFill/>
          <a:ln w="15240">
            <a:solidFill>
              <a:srgbClr val="BED1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852928"/>
            <a:ext cx="402336" cy="402336"/>
          </a:xfrm>
          <a:prstGeom prst="ellipse">
            <a:avLst/>
          </a:prstGeom>
          <a:solidFill>
            <a:srgbClr val="73A15A"/>
          </a:solidFill>
          <a:ln w="12700">
            <a:solidFill>
              <a:srgbClr val="73A15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" y="291693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4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" y="28163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suitable crops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3099816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transparent score uses season, soil, water demand, cost range and farmer priority.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13816" y="3255264"/>
            <a:ext cx="0" cy="365760"/>
          </a:xfrm>
          <a:prstGeom prst="line">
            <a:avLst/>
          </a:prstGeom>
          <a:noFill/>
          <a:ln w="15240">
            <a:solidFill>
              <a:srgbClr val="BED1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" y="3685032"/>
            <a:ext cx="402336" cy="402336"/>
          </a:xfrm>
          <a:prstGeom prst="ellipse">
            <a:avLst/>
          </a:prstGeom>
          <a:solidFill>
            <a:srgbClr val="91B36D"/>
          </a:solidFill>
          <a:ln w="12700">
            <a:solidFill>
              <a:srgbClr val="91B36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" y="374904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4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364845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trade-offs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3931920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suggestion shows why it matched, a planning-cost range, duration and cautions.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13816" y="4087368"/>
            <a:ext cx="0" cy="365760"/>
          </a:xfrm>
          <a:prstGeom prst="line">
            <a:avLst/>
          </a:prstGeom>
          <a:noFill/>
          <a:ln w="15240">
            <a:solidFill>
              <a:srgbClr val="BED1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" y="4517136"/>
            <a:ext cx="402336" cy="402336"/>
          </a:xfrm>
          <a:prstGeom prst="ellipse">
            <a:avLst/>
          </a:prstGeom>
          <a:solidFill>
            <a:srgbClr val="E9B85A"/>
          </a:solidFill>
          <a:ln w="12700">
            <a:solidFill>
              <a:srgbClr val="E9B85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" y="458114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4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4805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before sowing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4764024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official-source links and verify advice with a soil test / local KVK.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690872" y="1901952"/>
            <a:ext cx="3886200" cy="3968496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1430">
            <a:solidFill>
              <a:srgbClr val="D3DF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0872" y="1901952"/>
            <a:ext cx="3886200" cy="493776"/>
          </a:xfrm>
          <a:prstGeom prst="roundRect">
            <a:avLst>
              <a:gd name="adj" fmla="val 22222"/>
            </a:avLst>
          </a:prstGeom>
          <a:solidFill>
            <a:srgbClr val="163D2E"/>
          </a:solidFill>
          <a:ln w="10160">
            <a:solidFill>
              <a:srgbClr val="163D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01184" y="2039112"/>
            <a:ext cx="182880" cy="182880"/>
          </a:xfrm>
          <a:prstGeom prst="ellipse">
            <a:avLst/>
          </a:prstGeom>
          <a:solidFill>
            <a:srgbClr val="DDEAB1"/>
          </a:solidFill>
          <a:ln w="12700">
            <a:solidFill>
              <a:srgbClr val="DDEAB1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75504" y="19933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KrishiGuide AI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62672" y="2011680"/>
            <a:ext cx="667512" cy="265176"/>
          </a:xfrm>
          <a:prstGeom prst="roundRect">
            <a:avLst>
              <a:gd name="adj" fmla="val 41379"/>
            </a:avLst>
          </a:prstGeom>
          <a:solidFill>
            <a:srgbClr val="335F42"/>
          </a:solidFill>
          <a:ln w="10160">
            <a:solidFill>
              <a:srgbClr val="335F42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35824" y="2025396"/>
            <a:ext cx="521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DE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UI</a:t>
            </a:r>
            <a:endParaRPr lang="en-US" sz="840" dirty="0"/>
          </a:p>
        </p:txBody>
      </p:sp>
      <p:sp>
        <p:nvSpPr>
          <p:cNvPr id="30" name="Text 28"/>
          <p:cNvSpPr txBox="1"/>
          <p:nvPr/>
        </p:nvSpPr>
        <p:spPr>
          <a:xfrm>
            <a:off x="4956048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farm plan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956048" y="28529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profile • 2 acres • Kharif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4928616" y="3218688"/>
            <a:ext cx="3401568" cy="548640"/>
          </a:xfrm>
          <a:prstGeom prst="roundRect">
            <a:avLst>
              <a:gd name="adj" fmla="val 20000"/>
            </a:avLst>
          </a:prstGeom>
          <a:solidFill>
            <a:srgbClr val="F1F7E9"/>
          </a:solidFill>
          <a:ln w="10160">
            <a:solidFill>
              <a:srgbClr val="BBD0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65776" y="3355848"/>
            <a:ext cx="256032" cy="256032"/>
          </a:xfrm>
          <a:prstGeom prst="ellipse">
            <a:avLst/>
          </a:prstGeom>
          <a:solidFill>
            <a:srgbClr val="38754B"/>
          </a:solidFill>
          <a:ln w="12700">
            <a:solidFill>
              <a:srgbClr val="38754B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65776" y="340156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5440680" y="3300984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Soybean</a:t>
            </a:r>
            <a:endParaRPr lang="en-US" sz="1110" dirty="0"/>
          </a:p>
        </p:txBody>
      </p:sp>
      <p:sp>
        <p:nvSpPr>
          <p:cNvPr id="36" name="Text 34"/>
          <p:cNvSpPr txBox="1"/>
          <p:nvPr/>
        </p:nvSpPr>
        <p:spPr>
          <a:xfrm>
            <a:off x="5440680" y="3511296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match</a:t>
            </a:r>
            <a:endParaRPr lang="en-US" sz="780" dirty="0"/>
          </a:p>
        </p:txBody>
      </p:sp>
      <p:sp>
        <p:nvSpPr>
          <p:cNvPr id="37" name="Text 35"/>
          <p:cNvSpPr txBox="1"/>
          <p:nvPr/>
        </p:nvSpPr>
        <p:spPr>
          <a:xfrm>
            <a:off x="7452360" y="335584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93%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4928616" y="3877056"/>
            <a:ext cx="3401568" cy="548640"/>
          </a:xfrm>
          <a:prstGeom prst="roundRect">
            <a:avLst>
              <a:gd name="adj" fmla="val 20000"/>
            </a:avLst>
          </a:prstGeom>
          <a:solidFill>
            <a:srgbClr val="F8F9F4"/>
          </a:solidFill>
          <a:ln w="10160">
            <a:solidFill>
              <a:srgbClr val="E2E8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65776" y="4014216"/>
            <a:ext cx="256032" cy="256032"/>
          </a:xfrm>
          <a:prstGeom prst="ellipse">
            <a:avLst/>
          </a:prstGeom>
          <a:solidFill>
            <a:srgbClr val="DCE8D2"/>
          </a:solidFill>
          <a:ln w="12700">
            <a:solidFill>
              <a:srgbClr val="DCE8D2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65776" y="405993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5440680" y="395935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Sorghum</a:t>
            </a:r>
            <a:endParaRPr lang="en-US" sz="1110" dirty="0"/>
          </a:p>
        </p:txBody>
      </p:sp>
      <p:sp>
        <p:nvSpPr>
          <p:cNvPr id="42" name="Text 40"/>
          <p:cNvSpPr txBox="1"/>
          <p:nvPr/>
        </p:nvSpPr>
        <p:spPr>
          <a:xfrm>
            <a:off x="5440680" y="416966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local fit</a:t>
            </a:r>
            <a:endParaRPr lang="en-US" sz="780" dirty="0"/>
          </a:p>
        </p:txBody>
      </p:sp>
      <p:sp>
        <p:nvSpPr>
          <p:cNvPr id="43" name="Text 41"/>
          <p:cNvSpPr txBox="1"/>
          <p:nvPr/>
        </p:nvSpPr>
        <p:spPr>
          <a:xfrm>
            <a:off x="7452360" y="401421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80%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4928616" y="4535424"/>
            <a:ext cx="3401568" cy="548640"/>
          </a:xfrm>
          <a:prstGeom prst="roundRect">
            <a:avLst>
              <a:gd name="adj" fmla="val 20000"/>
            </a:avLst>
          </a:prstGeom>
          <a:solidFill>
            <a:srgbClr val="F8F9F4"/>
          </a:solidFill>
          <a:ln w="10160">
            <a:solidFill>
              <a:srgbClr val="E2E8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65776" y="4672584"/>
            <a:ext cx="256032" cy="256032"/>
          </a:xfrm>
          <a:prstGeom prst="ellipse">
            <a:avLst/>
          </a:prstGeom>
          <a:solidFill>
            <a:srgbClr val="DCE8D2"/>
          </a:solidFill>
          <a:ln w="12700">
            <a:solidFill>
              <a:srgbClr val="DCE8D2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065776" y="471830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5440680" y="461772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Pearl millet</a:t>
            </a:r>
            <a:endParaRPr lang="en-US" sz="1110" dirty="0"/>
          </a:p>
        </p:txBody>
      </p:sp>
      <p:sp>
        <p:nvSpPr>
          <p:cNvPr id="48" name="Text 46"/>
          <p:cNvSpPr txBox="1"/>
          <p:nvPr/>
        </p:nvSpPr>
        <p:spPr>
          <a:xfrm>
            <a:off x="5440680" y="482803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water demand</a:t>
            </a:r>
            <a:endParaRPr lang="en-US" sz="780" dirty="0"/>
          </a:p>
        </p:txBody>
      </p:sp>
      <p:sp>
        <p:nvSpPr>
          <p:cNvPr id="49" name="Text 47"/>
          <p:cNvSpPr txBox="1"/>
          <p:nvPr/>
        </p:nvSpPr>
        <p:spPr>
          <a:xfrm>
            <a:off x="7452360" y="467258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3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79%</a:t>
            </a:r>
            <a:endParaRPr lang="en-US" sz="1130" dirty="0"/>
          </a:p>
        </p:txBody>
      </p:sp>
      <p:sp>
        <p:nvSpPr>
          <p:cNvPr id="50" name="Shape 48"/>
          <p:cNvSpPr/>
          <p:nvPr/>
        </p:nvSpPr>
        <p:spPr>
          <a:xfrm>
            <a:off x="4937760" y="5294376"/>
            <a:ext cx="3401568" cy="356616"/>
          </a:xfrm>
          <a:prstGeom prst="roundRect">
            <a:avLst>
              <a:gd name="adj" fmla="val 30769"/>
            </a:avLst>
          </a:prstGeom>
          <a:solidFill>
            <a:srgbClr val="E8F0DF"/>
          </a:solidFill>
          <a:ln w="10160">
            <a:solidFill>
              <a:srgbClr val="DAE5D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074920" y="5367528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planner  •  Farmer-help assistant  •  Marathi / Hindi / English labels</a:t>
            </a:r>
            <a:endParaRPr lang="en-US" sz="780" dirty="0"/>
          </a:p>
        </p:txBody>
      </p:sp>
      <p:sp>
        <p:nvSpPr>
          <p:cNvPr id="52" name="Text 50"/>
          <p:cNvSpPr txBox="1"/>
          <p:nvPr/>
        </p:nvSpPr>
        <p:spPr>
          <a:xfrm>
            <a:off x="4855464" y="5971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preview is illustrative; crop scores and costs are demo estimates, not validated local recommendations.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649224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19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7772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ARCHITECTURE BLUEPRINT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1005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Transparent by design. Connected as data improves.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5087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distinguishes the working MVP from future integrations.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2121408"/>
            <a:ext cx="1417320" cy="1316736"/>
          </a:xfrm>
          <a:prstGeom prst="roundRect">
            <a:avLst>
              <a:gd name="adj" fmla="val 8333"/>
            </a:avLst>
          </a:prstGeom>
          <a:solidFill>
            <a:srgbClr val="E8F0DF"/>
          </a:solidFill>
          <a:ln w="11430">
            <a:solidFill>
              <a:srgbClr val="D4E0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40280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 inputs</a:t>
            </a:r>
            <a:endParaRPr lang="en-US" sz="111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43784"/>
            <a:ext cx="11978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Season, soil, water, area, budget</a:t>
            </a:r>
            <a:endParaRPr lang="en-US" sz="83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551176"/>
            <a:ext cx="219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3A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194560" y="2121408"/>
            <a:ext cx="1527048" cy="1316736"/>
          </a:xfrm>
          <a:prstGeom prst="roundRect">
            <a:avLst>
              <a:gd name="adj" fmla="val 8333"/>
            </a:avLst>
          </a:prstGeom>
          <a:solidFill>
            <a:srgbClr val="E8F0DF"/>
          </a:solidFill>
          <a:ln w="11430">
            <a:solidFill>
              <a:srgbClr val="D4E0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04288" y="2240280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46888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checks</a:t>
            </a:r>
            <a:endParaRPr lang="en-US" sz="111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843784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fields and normalize selections</a:t>
            </a:r>
            <a:endParaRPr lang="en-US" sz="830" dirty="0"/>
          </a:p>
        </p:txBody>
      </p:sp>
      <p:sp>
        <p:nvSpPr>
          <p:cNvPr id="14" name="Text 12"/>
          <p:cNvSpPr txBox="1"/>
          <p:nvPr/>
        </p:nvSpPr>
        <p:spPr>
          <a:xfrm>
            <a:off x="3739896" y="2551176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3A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977640" y="2121408"/>
            <a:ext cx="1517904" cy="1316736"/>
          </a:xfrm>
          <a:prstGeom prst="roundRect">
            <a:avLst>
              <a:gd name="adj" fmla="val 8333"/>
            </a:avLst>
          </a:prstGeom>
          <a:solidFill>
            <a:srgbClr val="E8F0DF"/>
          </a:solidFill>
          <a:ln w="11430">
            <a:solidFill>
              <a:srgbClr val="D4E0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87368" y="2240280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087368" y="24688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catalogue</a:t>
            </a:r>
            <a:endParaRPr lang="en-US" sz="1110" dirty="0"/>
          </a:p>
        </p:txBody>
      </p:sp>
      <p:sp>
        <p:nvSpPr>
          <p:cNvPr id="18" name="Text 16"/>
          <p:cNvSpPr txBox="1"/>
          <p:nvPr/>
        </p:nvSpPr>
        <p:spPr>
          <a:xfrm>
            <a:off x="4087368" y="2843784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crop rules + cost bands</a:t>
            </a:r>
            <a:endParaRPr lang="en-US" sz="830" dirty="0"/>
          </a:p>
        </p:txBody>
      </p:sp>
      <p:sp>
        <p:nvSpPr>
          <p:cNvPr id="19" name="Text 17"/>
          <p:cNvSpPr txBox="1"/>
          <p:nvPr/>
        </p:nvSpPr>
        <p:spPr>
          <a:xfrm>
            <a:off x="5513832" y="2551176"/>
            <a:ext cx="219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3A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5742432" y="2121408"/>
            <a:ext cx="1353312" cy="1316736"/>
          </a:xfrm>
          <a:prstGeom prst="roundRect">
            <a:avLst>
              <a:gd name="adj" fmla="val 8333"/>
            </a:avLst>
          </a:prstGeom>
          <a:solidFill>
            <a:srgbClr val="E8F0DF"/>
          </a:solidFill>
          <a:ln w="11430">
            <a:solidFill>
              <a:srgbClr val="D4E0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2160" y="2240280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246888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engine</a:t>
            </a:r>
            <a:endParaRPr lang="en-US" sz="111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2843784"/>
            <a:ext cx="11338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deterministic ranking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2551176"/>
            <a:ext cx="1920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3A1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7315200" y="2121408"/>
            <a:ext cx="1261872" cy="1316736"/>
          </a:xfrm>
          <a:prstGeom prst="roundRect">
            <a:avLst>
              <a:gd name="adj" fmla="val 8696"/>
            </a:avLst>
          </a:prstGeom>
          <a:solidFill>
            <a:srgbClr val="DCEBE7"/>
          </a:solidFill>
          <a:ln w="11430">
            <a:solidFill>
              <a:srgbClr val="D4E0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24928" y="2240280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424928" y="2468880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110" dirty="0"/>
          </a:p>
        </p:txBody>
      </p:sp>
      <p:sp>
        <p:nvSpPr>
          <p:cNvPr id="28" name="Text 26"/>
          <p:cNvSpPr txBox="1"/>
          <p:nvPr/>
        </p:nvSpPr>
        <p:spPr>
          <a:xfrm>
            <a:off x="7424928" y="2843784"/>
            <a:ext cx="10424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crops, cautions, cost plan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30352" y="3840480"/>
            <a:ext cx="38404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1430">
            <a:solidFill>
              <a:srgbClr val="D8E2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4041648"/>
            <a:ext cx="1188720" cy="265176"/>
          </a:xfrm>
          <a:prstGeom prst="roundRect">
            <a:avLst>
              <a:gd name="adj" fmla="val 41379"/>
            </a:avLst>
          </a:prstGeom>
          <a:solidFill>
            <a:srgbClr val="EDF3E5"/>
          </a:solidFill>
          <a:ln w="10160">
            <a:solidFill>
              <a:srgbClr val="EDF3E5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055364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MVP</a:t>
            </a:r>
            <a:endParaRPr lang="en-US" sz="840" dirty="0"/>
          </a:p>
        </p:txBody>
      </p:sp>
      <p:sp>
        <p:nvSpPr>
          <p:cNvPr id="32" name="Text 30"/>
          <p:cNvSpPr txBox="1"/>
          <p:nvPr/>
        </p:nvSpPr>
        <p:spPr>
          <a:xfrm>
            <a:off x="749808" y="4416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Browser-based app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768096" y="4818888"/>
            <a:ext cx="68580" cy="68580"/>
          </a:xfrm>
          <a:prstGeom prst="ellipse">
            <a:avLst/>
          </a:prstGeom>
          <a:solidFill>
            <a:srgbClr val="73A15A"/>
          </a:solidFill>
          <a:ln w="12700">
            <a:solidFill>
              <a:srgbClr val="73A15A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2688" y="475488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/ CSS / JavaScript; no API key or login required.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8096" y="5111496"/>
            <a:ext cx="68580" cy="68580"/>
          </a:xfrm>
          <a:prstGeom prst="ellipse">
            <a:avLst/>
          </a:prstGeom>
          <a:solidFill>
            <a:srgbClr val="73A15A"/>
          </a:solidFill>
          <a:ln w="12700">
            <a:solidFill>
              <a:srgbClr val="73A15A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2688" y="5047488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Rules-based scores; indicative cost ranges; FAQ-style helper.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90288" y="3840480"/>
            <a:ext cx="4023360" cy="1572768"/>
          </a:xfrm>
          <a:prstGeom prst="roundRect">
            <a:avLst>
              <a:gd name="adj" fmla="val 6977"/>
            </a:avLst>
          </a:prstGeom>
          <a:solidFill>
            <a:srgbClr val="F2F6EC"/>
          </a:solidFill>
          <a:ln w="11430">
            <a:solidFill>
              <a:srgbClr val="D8E2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9744" y="4041648"/>
            <a:ext cx="2139696" cy="265176"/>
          </a:xfrm>
          <a:prstGeom prst="roundRect">
            <a:avLst>
              <a:gd name="adj" fmla="val 41379"/>
            </a:avLst>
          </a:prstGeom>
          <a:solidFill>
            <a:srgbClr val="E4EAD9"/>
          </a:solidFill>
          <a:ln w="10160">
            <a:solidFill>
              <a:srgbClr val="E4EAD9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82896" y="405536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PHASE — NOT CONNECTED</a:t>
            </a:r>
            <a:endParaRPr lang="en-US" sz="840" dirty="0"/>
          </a:p>
        </p:txBody>
      </p:sp>
      <p:sp>
        <p:nvSpPr>
          <p:cNvPr id="40" name="Text 38"/>
          <p:cNvSpPr txBox="1"/>
          <p:nvPr/>
        </p:nvSpPr>
        <p:spPr>
          <a:xfrm>
            <a:off x="4809744" y="44165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regional data layer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4828032" y="4818888"/>
            <a:ext cx="68580" cy="68580"/>
          </a:xfrm>
          <a:prstGeom prst="ellipse">
            <a:avLst/>
          </a:prstGeom>
          <a:solidFill>
            <a:srgbClr val="73A15A"/>
          </a:solidFill>
          <a:ln w="12700">
            <a:solidFill>
              <a:srgbClr val="73A15A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92624" y="475488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Soil Health Card + district crop advisories.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28032" y="5111496"/>
            <a:ext cx="68580" cy="68580"/>
          </a:xfrm>
          <a:prstGeom prst="ellipse">
            <a:avLst/>
          </a:prstGeom>
          <a:solidFill>
            <a:srgbClr val="73A15A"/>
          </a:solidFill>
          <a:ln w="12700">
            <a:solidFill>
              <a:srgbClr val="73A15A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92624" y="5047488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IMD weather + AGMARKNET/e-NAM market prices with timestamps.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806440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i="1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path (future): frontend → Python API → validated data connectors → audited recommendations. Do not present future integrations as live.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649224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19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7772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AI &amp; TOOLING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1005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with guardrails — not guesswork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5087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proposal separates what works in the MVP from capabilities planned for a later version.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938528"/>
            <a:ext cx="3767328" cy="2057400"/>
          </a:xfrm>
          <a:prstGeom prst="roundRect">
            <a:avLst>
              <a:gd name="adj" fmla="val 5333"/>
            </a:avLst>
          </a:prstGeom>
          <a:solidFill>
            <a:srgbClr val="163D2E"/>
          </a:solidFill>
          <a:ln w="11430">
            <a:solidFill>
              <a:srgbClr val="163D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1762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DDE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OF AI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514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MVP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" y="2944368"/>
            <a:ext cx="68580" cy="68580"/>
          </a:xfrm>
          <a:prstGeom prst="ellipse">
            <a:avLst/>
          </a:prstGeom>
          <a:solidFill>
            <a:srgbClr val="DDEAB1"/>
          </a:solidFill>
          <a:ln w="12700">
            <a:solidFill>
              <a:srgbClr val="DDEAB1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" y="288036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6EF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rule-based crop ranking.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86384" y="3282696"/>
            <a:ext cx="68580" cy="68580"/>
          </a:xfrm>
          <a:prstGeom prst="ellipse">
            <a:avLst/>
          </a:prstGeom>
          <a:solidFill>
            <a:srgbClr val="DDEAB1"/>
          </a:solidFill>
          <a:ln w="12700">
            <a:solidFill>
              <a:srgbClr val="DDEAB1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32186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6EF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Keyword-based farmer FAQ; not a generative AI chatbot.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86384" y="3648456"/>
            <a:ext cx="68580" cy="68580"/>
          </a:xfrm>
          <a:prstGeom prst="ellipse">
            <a:avLst/>
          </a:prstGeom>
          <a:solidFill>
            <a:srgbClr val="DDEAB1"/>
          </a:solidFill>
          <a:ln w="12700">
            <a:solidFill>
              <a:srgbClr val="DDEAB1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35844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6EF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Future: summarize sourced advisories and explain trade-offs in local languages.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553712" y="1938528"/>
            <a:ext cx="4059936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1430">
            <a:solidFill>
              <a:srgbClr val="D8E2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82312" y="2148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TOOL / LABS USED?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782312" y="24414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used in this build yet.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82312" y="273405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evaluation: IBM tools only after access and hands-on validation.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4553712" y="3273552"/>
            <a:ext cx="4059936" cy="1179576"/>
          </a:xfrm>
          <a:prstGeom prst="roundRect">
            <a:avLst>
              <a:gd name="adj" fmla="val 9302"/>
            </a:avLst>
          </a:prstGeom>
          <a:solidFill>
            <a:srgbClr val="F5F7F0"/>
          </a:solidFill>
          <a:ln w="11430">
            <a:solidFill>
              <a:srgbClr val="D8E2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82312" y="3465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BOB USED?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782312" y="3749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used so far.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82312" y="4005072"/>
            <a:ext cx="3547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future use: plan/refactor code, add tests and review documentation; report usage only after it happens.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30352" y="4315968"/>
            <a:ext cx="3767328" cy="932688"/>
          </a:xfrm>
          <a:prstGeom prst="roundRect">
            <a:avLst>
              <a:gd name="adj" fmla="val 11765"/>
            </a:avLst>
          </a:prstGeom>
          <a:solidFill>
            <a:srgbClr val="E7EFDC"/>
          </a:solidFill>
          <a:ln w="10160">
            <a:solidFill>
              <a:srgbClr val="D5E2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44897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spc="10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&amp; TRUST</a:t>
            </a:r>
            <a:endParaRPr lang="en-US" sz="86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4754880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guaranteed yield / profit claims. Show estimates as estimates, cite sources, and prompt a local soil test / KVK check.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53712" y="4700016"/>
            <a:ext cx="4059936" cy="548640"/>
          </a:xfrm>
          <a:prstGeom prst="roundRect">
            <a:avLst>
              <a:gd name="adj" fmla="val 20000"/>
            </a:avLst>
          </a:prstGeom>
          <a:solidFill>
            <a:srgbClr val="FFF4D8"/>
          </a:solidFill>
          <a:ln w="10160">
            <a:solidFill>
              <a:srgbClr val="E9D9A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0" y="4828032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7457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note: update this slide after any IBM tool is actually used and documented.</a:t>
            </a:r>
            <a:endParaRPr lang="en-US" sz="91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733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honesty note is intentional: the current artefact is a student MVP, not a deployed AI service.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649224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19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7772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REFERENCES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1005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on trusted agricultural sources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5087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reference links for validation and future integration; the prototype does not currently fetch live data.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D9E3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48840"/>
            <a:ext cx="329184" cy="329184"/>
          </a:xfrm>
          <a:prstGeom prst="ellipse">
            <a:avLst/>
          </a:prstGeom>
          <a:solidFill>
            <a:srgbClr val="38754B"/>
          </a:solidFill>
          <a:ln w="12700">
            <a:solidFill>
              <a:srgbClr val="38754B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21284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06654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Soil Health Card Portal</a:t>
            </a:r>
            <a:endParaRPr lang="en-US" sz="114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231343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 / Ministry of Agriculture &amp; Farmers Welfare</a:t>
            </a:r>
            <a:endParaRPr lang="en-US" sz="830" dirty="0"/>
          </a:p>
        </p:txBody>
      </p:sp>
      <p:sp>
        <p:nvSpPr>
          <p:cNvPr id="10" name="Text 8"/>
          <p:cNvSpPr txBox="1"/>
          <p:nvPr/>
        </p:nvSpPr>
        <p:spPr>
          <a:xfrm>
            <a:off x="4133088" y="2075688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Soil nutrients and soil-test-based fertilizer guidance.</a:t>
            </a:r>
            <a:endParaRPr lang="en-US" sz="960" dirty="0"/>
          </a:p>
        </p:txBody>
      </p:sp>
      <p:sp>
        <p:nvSpPr>
          <p:cNvPr id="11" name="Text 9">
            <a:hlinkClick r:id="rId1" tooltip=""/>
          </p:cNvPr>
          <p:cNvSpPr txBox="1"/>
          <p:nvPr/>
        </p:nvSpPr>
        <p:spPr>
          <a:xfrm>
            <a:off x="4133088" y="2350008"/>
            <a:ext cx="41696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u="sng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soilhealth.dac.gov.in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48640" y="2825496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D9E3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008376"/>
            <a:ext cx="329184" cy="329184"/>
          </a:xfrm>
          <a:prstGeom prst="ellipse">
            <a:avLst/>
          </a:prstGeom>
          <a:solidFill>
            <a:srgbClr val="356A74"/>
          </a:solidFill>
          <a:ln w="12700">
            <a:solidFill>
              <a:srgbClr val="356A74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07238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2608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IMD Agromet Advisory Services</a:t>
            </a:r>
            <a:endParaRPr lang="en-US" sz="114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172968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Meteorological Department</a:t>
            </a:r>
            <a:endParaRPr lang="en-US" sz="830" dirty="0"/>
          </a:p>
        </p:txBody>
      </p:sp>
      <p:sp>
        <p:nvSpPr>
          <p:cNvPr id="17" name="Text 15"/>
          <p:cNvSpPr txBox="1"/>
          <p:nvPr/>
        </p:nvSpPr>
        <p:spPr>
          <a:xfrm>
            <a:off x="4133088" y="2935224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District / local-language agro-weather advisories.</a:t>
            </a:r>
            <a:endParaRPr lang="en-US" sz="960" dirty="0"/>
          </a:p>
        </p:txBody>
      </p:sp>
      <p:sp>
        <p:nvSpPr>
          <p:cNvPr id="18" name="Text 16">
            <a:hlinkClick r:id="rId2" tooltip=""/>
          </p:cNvPr>
          <p:cNvSpPr txBox="1"/>
          <p:nvPr/>
        </p:nvSpPr>
        <p:spPr>
          <a:xfrm>
            <a:off x="4133088" y="3209544"/>
            <a:ext cx="41696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u="sng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mausam.imd.gov.in/responsive/agromet_adv_ser_district_current_lo.php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D9E3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867912"/>
            <a:ext cx="329184" cy="329184"/>
          </a:xfrm>
          <a:prstGeom prst="ellipse">
            <a:avLst/>
          </a:prstGeom>
          <a:solidFill>
            <a:srgbClr val="73A15A"/>
          </a:solidFill>
          <a:ln w="12700">
            <a:solidFill>
              <a:srgbClr val="73A15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393192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37856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ICAR Farmer Advisories</a:t>
            </a:r>
            <a:endParaRPr lang="en-US" sz="114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032504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 Council of Agricultural Research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4133088" y="3794760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Crop-season advisories and regional agronomic context.</a:t>
            </a:r>
            <a:endParaRPr lang="en-US" sz="960" dirty="0"/>
          </a:p>
        </p:txBody>
      </p:sp>
      <p:sp>
        <p:nvSpPr>
          <p:cNvPr id="25" name="Text 23">
            <a:hlinkClick r:id="rId3" tooltip=""/>
          </p:cNvPr>
          <p:cNvSpPr txBox="1"/>
          <p:nvPr/>
        </p:nvSpPr>
        <p:spPr>
          <a:xfrm>
            <a:off x="4133088" y="4069080"/>
            <a:ext cx="41696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u="sng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icar.gov.in/en/kharif-agro-advisory-farmers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48640" y="4544568"/>
            <a:ext cx="8046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D9E3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727448"/>
            <a:ext cx="329184" cy="329184"/>
          </a:xfrm>
          <a:prstGeom prst="ellipse">
            <a:avLst/>
          </a:prstGeom>
          <a:solidFill>
            <a:srgbClr val="E9B85A"/>
          </a:solidFill>
          <a:ln w="12700">
            <a:solidFill>
              <a:srgbClr val="E9B85A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79145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464515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AGMARKNET / e-NAM prices</a:t>
            </a:r>
            <a:endParaRPr lang="en-US" sz="114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489204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of India market information</a:t>
            </a:r>
            <a:endParaRPr lang="en-US" sz="830" dirty="0"/>
          </a:p>
        </p:txBody>
      </p:sp>
      <p:sp>
        <p:nvSpPr>
          <p:cNvPr id="31" name="Text 29"/>
          <p:cNvSpPr txBox="1"/>
          <p:nvPr/>
        </p:nvSpPr>
        <p:spPr>
          <a:xfrm>
            <a:off x="4133088" y="4654296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0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price and arrivals reference for planning.</a:t>
            </a:r>
            <a:endParaRPr lang="en-US" sz="960" dirty="0"/>
          </a:p>
        </p:txBody>
      </p:sp>
      <p:sp>
        <p:nvSpPr>
          <p:cNvPr id="32" name="Text 30">
            <a:hlinkClick r:id="rId4" tooltip=""/>
          </p:cNvPr>
          <p:cNvSpPr txBox="1"/>
          <p:nvPr/>
        </p:nvSpPr>
        <p:spPr>
          <a:xfrm>
            <a:off x="4133088" y="4928616"/>
            <a:ext cx="41696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u="sng" dirty="0">
                <a:solidFill>
                  <a:srgbClr val="3875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enam.gov.in/web/dashboard/agmarknet</a:t>
            </a:r>
            <a:endParaRPr lang="en-US" sz="780" dirty="0"/>
          </a:p>
        </p:txBody>
      </p:sp>
      <p:sp>
        <p:nvSpPr>
          <p:cNvPr id="33" name="Text 31"/>
          <p:cNvSpPr txBox="1"/>
          <p:nvPr/>
        </p:nvSpPr>
        <p:spPr>
          <a:xfrm>
            <a:off x="603504" y="5715000"/>
            <a:ext cx="7936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policy: retain source, district / market, timestamp and unit; if data is unavailable or stale, say so instead of inventing a value.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649224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19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63D2E"/>
          </a:solidFill>
          <a:ln w="10160">
            <a:solidFill>
              <a:srgbClr val="163D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3657600"/>
          </a:xfrm>
          <a:prstGeom prst="ellipse">
            <a:avLst/>
          </a:prstGeom>
          <a:solidFill>
            <a:srgbClr val="214F39">
              <a:alpha val="98000"/>
            </a:srgbClr>
          </a:solidFill>
          <a:ln w="12700">
            <a:solidFill>
              <a:srgbClr val="214F3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4023360"/>
            <a:ext cx="2560320" cy="2560320"/>
          </a:xfrm>
          <a:prstGeom prst="ellipse">
            <a:avLst/>
          </a:prstGeom>
          <a:solidFill>
            <a:srgbClr val="1E4934"/>
          </a:solidFill>
          <a:ln w="12700">
            <a:solidFill>
              <a:srgbClr val="1E4934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566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DDE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SOCIOTHON '26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" y="941832"/>
            <a:ext cx="2990088" cy="0"/>
          </a:xfrm>
          <a:prstGeom prst="line">
            <a:avLst/>
          </a:prstGeom>
          <a:noFill/>
          <a:ln w="19050">
            <a:solidFill>
              <a:srgbClr val="6F9D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149961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you.</a:t>
            </a:r>
            <a:endParaRPr lang="en-US" sz="37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468880"/>
            <a:ext cx="4892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4ED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Let’s make every farm decision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E4ED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informed and more resilient.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8039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DE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KrishiGuide AI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41970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D4E1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your soil. Plan your crop. Verify locally.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074920" y="1417320"/>
            <a:ext cx="3493008" cy="4087368"/>
          </a:xfrm>
          <a:prstGeom prst="roundRect">
            <a:avLst>
              <a:gd name="adj" fmla="val 3141"/>
            </a:avLst>
          </a:prstGeom>
          <a:solidFill>
            <a:srgbClr val="214D36"/>
          </a:solidFill>
          <a:ln w="10160">
            <a:solidFill>
              <a:srgbClr val="3A68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15235" y="1744309"/>
            <a:ext cx="735726" cy="735726"/>
          </a:xfrm>
          <a:prstGeom prst="ellipse">
            <a:avLst/>
          </a:prstGeom>
          <a:solidFill>
            <a:srgbClr val="E9B85A"/>
          </a:solidFill>
          <a:ln w="12700">
            <a:solidFill>
              <a:srgbClr val="E9B85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6751564" y="2316541"/>
            <a:ext cx="1676644" cy="980968"/>
          </a:xfrm>
          <a:prstGeom prst="chevron">
            <a:avLst/>
          </a:prstGeom>
          <a:solidFill>
            <a:srgbClr val="4F8750"/>
          </a:solidFill>
          <a:ln w="12700">
            <a:solidFill>
              <a:srgbClr val="4F875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5249570" y="2643530"/>
            <a:ext cx="2095805" cy="899221"/>
          </a:xfrm>
          <a:prstGeom prst="chevron">
            <a:avLst/>
          </a:prstGeom>
          <a:solidFill>
            <a:srgbClr val="67975A"/>
          </a:solidFill>
          <a:ln w="12700">
            <a:solidFill>
              <a:srgbClr val="67975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51564" y="3379257"/>
            <a:ext cx="-1467063" cy="143058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21424" y="3379257"/>
            <a:ext cx="1467063" cy="143058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64239" y="3644936"/>
            <a:ext cx="-1309878" cy="143058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8749" y="3644936"/>
            <a:ext cx="1309878" cy="143058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76913" y="3910614"/>
            <a:ext cx="-1152693" cy="143058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6074" y="3910614"/>
            <a:ext cx="1152693" cy="143058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9588" y="4176293"/>
            <a:ext cx="-995507" cy="143058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3400" y="4176293"/>
            <a:ext cx="995507" cy="143058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2263" y="4441972"/>
            <a:ext cx="-838322" cy="143058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0725" y="4441972"/>
            <a:ext cx="838322" cy="143058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14938" y="4707651"/>
            <a:ext cx="-681137" cy="143058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58050" y="4707651"/>
            <a:ext cx="681137" cy="143058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27613" y="4973330"/>
            <a:ext cx="-523951" cy="143058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45375" y="4973330"/>
            <a:ext cx="523951" cy="143058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0287" y="5239009"/>
            <a:ext cx="-366766" cy="143058"/>
          </a:xfrm>
          <a:prstGeom prst="line">
            <a:avLst/>
          </a:prstGeom>
          <a:noFill/>
          <a:ln w="15875">
            <a:solidFill>
              <a:srgbClr val="9DBD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32700" y="5239009"/>
            <a:ext cx="366766" cy="143058"/>
          </a:xfrm>
          <a:prstGeom prst="line">
            <a:avLst/>
          </a:prstGeom>
          <a:noFill/>
          <a:ln w="15875">
            <a:solidFill>
              <a:srgbClr val="AEC9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91284" y="3624499"/>
            <a:ext cx="1362273" cy="1430579"/>
          </a:xfrm>
          <a:prstGeom prst="roundRect">
            <a:avLst>
              <a:gd name="adj" fmla="val 8055"/>
            </a:avLst>
          </a:prstGeom>
          <a:solidFill>
            <a:srgbClr val="FFFDF6"/>
          </a:solidFill>
          <a:ln w="10160">
            <a:solidFill>
              <a:srgbClr val="E5EAD8"/>
            </a:solidFill>
            <a:prstDash val="solid"/>
          </a:ln>
          <a:effectLst>
            <a:outerShdw sx="100000" sy="100000" kx="0" ky="0" algn="bl" rotWithShape="0" blurRad="38100" dist="50800" dir="2700000">
              <a:srgbClr val="183A28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031004" y="3828867"/>
            <a:ext cx="1082832" cy="1839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spc="60" kern="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 SNAPSHOT</a:t>
            </a:r>
            <a:endParaRPr lang="en-US" sz="620" dirty="0"/>
          </a:p>
        </p:txBody>
      </p:sp>
      <p:sp>
        <p:nvSpPr>
          <p:cNvPr id="33" name="Text 31"/>
          <p:cNvSpPr txBox="1"/>
          <p:nvPr/>
        </p:nvSpPr>
        <p:spPr>
          <a:xfrm>
            <a:off x="7031004" y="4033236"/>
            <a:ext cx="1082832" cy="3678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6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crop matches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7031004" y="4523720"/>
            <a:ext cx="1082832" cy="183932"/>
          </a:xfrm>
          <a:prstGeom prst="roundRect">
            <a:avLst>
              <a:gd name="adj" fmla="val 59657"/>
            </a:avLst>
          </a:prstGeom>
          <a:solidFill>
            <a:srgbClr val="E1EAD8"/>
          </a:solidFill>
          <a:ln w="10160">
            <a:solidFill>
              <a:srgbClr val="E1EAD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31004" y="4523720"/>
            <a:ext cx="768462" cy="183932"/>
          </a:xfrm>
          <a:prstGeom prst="roundRect">
            <a:avLst>
              <a:gd name="adj" fmla="val 59657"/>
            </a:avLst>
          </a:prstGeom>
          <a:solidFill>
            <a:srgbClr val="73A15A"/>
          </a:solidFill>
          <a:ln w="10160">
            <a:solidFill>
              <a:srgbClr val="73A15A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31004" y="4768962"/>
            <a:ext cx="1047902" cy="1634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8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budget-aware</a:t>
            </a:r>
            <a:endParaRPr lang="en-US" sz="660" dirty="0"/>
          </a:p>
        </p:txBody>
      </p:sp>
      <p:sp>
        <p:nvSpPr>
          <p:cNvPr id="37" name="Text 35"/>
          <p:cNvSpPr txBox="1"/>
          <p:nvPr/>
        </p:nvSpPr>
        <p:spPr>
          <a:xfrm>
            <a:off x="630936" y="6062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B9D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/ contact details to be added</a:t>
            </a:r>
            <a:endParaRPr lang="en-US" sz="940" dirty="0"/>
          </a:p>
        </p:txBody>
      </p:sp>
      <p:sp>
        <p:nvSpPr>
          <p:cNvPr id="38" name="Text 36"/>
          <p:cNvSpPr txBox="1"/>
          <p:nvPr/>
        </p:nvSpPr>
        <p:spPr>
          <a:xfrm>
            <a:off x="630936" y="637336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40" kern="0" dirty="0">
                <a:solidFill>
                  <a:srgbClr val="DDE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IDEATE  •  INNOVATE  •  IMPACT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KrishiGuide AI — Sociothon 26</dc:title>
  <dc:subject>Sociothon 26 — Social Innovation Hackathon proposal</dc:subject>
  <dc:creator>KrishiGuide AI Team</dc:creator>
  <cp:lastModifiedBy>KrishiGuide AI Team</cp:lastModifiedBy>
  <cp:revision>1</cp:revision>
  <dcterms:created xsi:type="dcterms:W3CDTF">2026-10-10T14:42:23Z</dcterms:created>
  <dcterms:modified xsi:type="dcterms:W3CDTF">2026-10-10T14:42:23Z</dcterms:modified>
</cp:coreProperties>
</file>